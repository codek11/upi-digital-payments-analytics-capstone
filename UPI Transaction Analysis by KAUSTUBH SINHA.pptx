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3" d="100"/>
          <a:sy n="53" d="100"/>
        </p:scale>
        <p:origin x="80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809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5B3FB8"/>
          </a:solidFill>
          <a:ln w="12700">
            <a:solidFill>
              <a:srgbClr val="5B3F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65392"/>
            <a:ext cx="11292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UPI Transaction Analytics Project | Step 1 — Business Understanding &amp; Analytical Planning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28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973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28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973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 w="12700">
            <a:solidFill>
              <a:srgbClr val="F7F8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3FB8"/>
          </a:solidFill>
          <a:ln w="12700">
            <a:solidFill>
              <a:srgbClr val="5B3FB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5727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1F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UPI DIGITAL PAYMENTS ANALYTICS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End-to-End Transaction, Fraud &amp; Risk Analysis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160520" y="2926080"/>
            <a:ext cx="3886200" cy="0"/>
          </a:xfrm>
          <a:prstGeom prst="line">
            <a:avLst/>
          </a:prstGeom>
          <a:noFill/>
          <a:ln w="19050">
            <a:solidFill>
              <a:srgbClr val="5B3F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71800" y="3364992"/>
            <a:ext cx="6263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Capstone Project by —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277257" y="3813048"/>
            <a:ext cx="9768114" cy="3108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8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KAUSTUBH SINHA</a:t>
            </a:r>
            <a:endParaRPr lang="en-US" sz="2400" b="1" dirty="0"/>
          </a:p>
        </p:txBody>
      </p:sp>
      <p:sp>
        <p:nvSpPr>
          <p:cNvPr id="9" name="Text 7"/>
          <p:cNvSpPr/>
          <p:nvPr/>
        </p:nvSpPr>
        <p:spPr>
          <a:xfrm>
            <a:off x="2057400" y="4800600"/>
            <a:ext cx="8092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3F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Understanding &amp; Analytical Planning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28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973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UPI Digital Payments — Business Context &amp; Core Challenges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Understanding &amp; Analytical Planning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53492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4088" y="1536192"/>
            <a:ext cx="347472" cy="347472"/>
          </a:xfrm>
          <a:prstGeom prst="ellipse">
            <a:avLst/>
          </a:prstGeom>
          <a:solidFill>
            <a:srgbClr val="B84A5A"/>
          </a:solidFill>
          <a:ln w="12700">
            <a:solidFill>
              <a:srgbClr val="B84A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55448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88720" y="1527048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Fraud &amp; Financial Risk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2039112"/>
            <a:ext cx="4343400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28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Fraudulent transactions can create direct financial exposure, customer trust risk and elevated investigation workload.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325880"/>
            <a:ext cx="53492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10528" y="1536192"/>
            <a:ext cx="347472" cy="347472"/>
          </a:xfrm>
          <a:prstGeom prst="ellipse">
            <a:avLst/>
          </a:prstGeom>
          <a:solidFill>
            <a:srgbClr val="B87900"/>
          </a:solidFill>
          <a:ln w="12700">
            <a:solidFill>
              <a:srgbClr val="B879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0528" y="155448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995160" y="1527048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 Reliability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995160" y="2039112"/>
            <a:ext cx="4343400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28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Failed, pending and reversed transactions can reduce payment completion and create avoidable customer friction.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3657600"/>
            <a:ext cx="53492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4088" y="3867912"/>
            <a:ext cx="347472" cy="347472"/>
          </a:xfrm>
          <a:prstGeom prst="ellipse">
            <a:avLst/>
          </a:prstGeom>
          <a:solidFill>
            <a:srgbClr val="5B3FB8"/>
          </a:solidFill>
          <a:ln w="12700">
            <a:solidFill>
              <a:srgbClr val="5B3F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" y="388620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88720" y="3858768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&amp; Merchant Behaviour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4370832"/>
            <a:ext cx="4343400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28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Transaction activity and risk can vary across customers, merchants, devices, channels, regions and transaction characteristics.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09360" y="3657600"/>
            <a:ext cx="53492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10528" y="3867912"/>
            <a:ext cx="347472" cy="347472"/>
          </a:xfrm>
          <a:prstGeom prst="ellipse">
            <a:avLst/>
          </a:prstGeom>
          <a:solidFill>
            <a:srgbClr val="2B7A61"/>
          </a:solidFill>
          <a:ln w="12700">
            <a:solidFill>
              <a:srgbClr val="2B7A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10528" y="388620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995160" y="3858768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Compliance &amp; Risk Monitoring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95160" y="4370832"/>
            <a:ext cx="4343400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28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 monitoring is needed to surface suspicious activity, operational anomalies and emerging risk patterns.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02920" y="5870448"/>
            <a:ext cx="11155680" cy="420624"/>
          </a:xfrm>
          <a:prstGeom prst="roundRect">
            <a:avLst>
              <a:gd name="adj" fmla="val 26087"/>
            </a:avLst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5925312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Need: Convert transaction data into actionable fraud, risk and operational intelligence.</a:t>
            </a:r>
            <a:endParaRPr lang="en-US" sz="12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28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973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Analytical Goals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Translate business challenges into a measurable intelligence workflow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157984" cy="932688"/>
          </a:xfrm>
          <a:prstGeom prst="chevron">
            <a:avLst/>
          </a:prstGeom>
          <a:solidFill>
            <a:srgbClr val="5B3FB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1581912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39496" y="2532888"/>
            <a:ext cx="208483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28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Quantify transaction volume, value, success, failure, fraud and reversal performance.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734056" y="1417320"/>
            <a:ext cx="2157984" cy="932688"/>
          </a:xfrm>
          <a:prstGeom prst="chevron">
            <a:avLst/>
          </a:prstGeom>
          <a:solidFill>
            <a:srgbClr val="7A64C7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43784" y="1581912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70632" y="2532888"/>
            <a:ext cx="208483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28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unusual patterns and potential fraud or operational risk signals.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965192" y="1417320"/>
            <a:ext cx="2157984" cy="932688"/>
          </a:xfrm>
          <a:prstGeom prst="chevron">
            <a:avLst/>
          </a:prstGeom>
          <a:solidFill>
            <a:srgbClr val="7A64C7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74920" y="1581912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01768" y="2532888"/>
            <a:ext cx="208483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28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Analyse the underlying customer, device, channel, merchant, regional and temporal drivers.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196328" y="1417320"/>
            <a:ext cx="2157984" cy="932688"/>
          </a:xfrm>
          <a:prstGeom prst="chevron">
            <a:avLst/>
          </a:prstGeom>
          <a:solidFill>
            <a:srgbClr val="7A64C7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06056" y="1581912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232904" y="2532888"/>
            <a:ext cx="208483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28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Break risk and performance into meaningful business segments for targeted investigation.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427464" y="1417320"/>
            <a:ext cx="2157984" cy="932688"/>
          </a:xfrm>
          <a:prstGeom prst="chevron">
            <a:avLst/>
          </a:prstGeom>
          <a:solidFill>
            <a:srgbClr val="1F243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37192" y="1581912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464040" y="2532888"/>
            <a:ext cx="208483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28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Translate validated findings into monitoring priorities and business actions.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5800" y="3886200"/>
            <a:ext cx="10789920" cy="1444752"/>
          </a:xfrm>
          <a:prstGeom prst="roundRect">
            <a:avLst>
              <a:gd name="adj" fmla="val 7595"/>
            </a:avLst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0120" y="4096512"/>
            <a:ext cx="1170432" cy="256032"/>
          </a:xfrm>
          <a:prstGeom prst="roundRect">
            <a:avLst>
              <a:gd name="adj" fmla="val 28571"/>
            </a:avLst>
          </a:prstGeom>
          <a:solidFill>
            <a:srgbClr val="EDE9F8"/>
          </a:solidFill>
          <a:ln w="12700">
            <a:solidFill>
              <a:srgbClr val="EDE9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4114800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3F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ANALYTICAL STACK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51560" y="45262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011680" y="4315968"/>
            <a:ext cx="1737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28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validation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dirty="0">
                <a:solidFill>
                  <a:srgbClr val="28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&amp; relational modelling</a:t>
            </a:r>
            <a:endParaRPr lang="en-US" sz="1120" dirty="0"/>
          </a:p>
        </p:txBody>
      </p:sp>
      <p:sp>
        <p:nvSpPr>
          <p:cNvPr id="24" name="Text 22"/>
          <p:cNvSpPr/>
          <p:nvPr/>
        </p:nvSpPr>
        <p:spPr>
          <a:xfrm>
            <a:off x="3749040" y="449884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B3F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160520" y="45262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074920" y="4315968"/>
            <a:ext cx="1783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28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Cleaning, EDA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dirty="0">
                <a:solidFill>
                  <a:srgbClr val="28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&amp; visual analytics</a:t>
            </a:r>
            <a:endParaRPr lang="en-US" sz="1120" dirty="0"/>
          </a:p>
        </p:txBody>
      </p:sp>
      <p:sp>
        <p:nvSpPr>
          <p:cNvPr id="27" name="Text 25"/>
          <p:cNvSpPr/>
          <p:nvPr/>
        </p:nvSpPr>
        <p:spPr>
          <a:xfrm>
            <a:off x="6931152" y="449884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B3F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360920" y="45262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Statistics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247888" y="4315968"/>
            <a:ext cx="1737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28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Hypothesis testing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dirty="0">
                <a:solidFill>
                  <a:srgbClr val="28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&amp; effect sizes</a:t>
            </a:r>
            <a:endParaRPr lang="en-US" sz="1120" dirty="0"/>
          </a:p>
        </p:txBody>
      </p:sp>
      <p:sp>
        <p:nvSpPr>
          <p:cNvPr id="30" name="Text 28"/>
          <p:cNvSpPr/>
          <p:nvPr/>
        </p:nvSpPr>
        <p:spPr>
          <a:xfrm>
            <a:off x="10040112" y="449884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B3F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0287000" y="45262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BI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14400" y="571500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5B3F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principle: measure → investigate → validate → segment → act.</a:t>
            </a:r>
            <a:endParaRPr lang="en-US" sz="17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28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973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KPI Framework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families defined before detailed analysis and dashboarding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3383280" cy="448056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3383280" cy="502920"/>
          </a:xfrm>
          <a:prstGeom prst="rect">
            <a:avLst/>
          </a:prstGeom>
          <a:solidFill>
            <a:srgbClr val="5B3FB8"/>
          </a:solidFill>
          <a:ln w="12700">
            <a:solidFill>
              <a:srgbClr val="5B3F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417320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TRANSACTION PERFORMANCE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19933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B3F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05256" y="1947672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28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Transaction Volume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85800" y="24140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B3F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05256" y="2368296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28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Transaction Value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85800" y="28346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B3F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05256" y="2788920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28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 Transaction Amount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85800" y="32552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B3F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05256" y="3209544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28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Transaction Success Rate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85800" y="36758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B3F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05256" y="3630168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28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Transaction Failure Rate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85800" y="40965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B3F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05256" y="4050792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28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Pending Transaction Rate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85800" y="45171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B3F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05256" y="4471416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28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Reversal Rate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096512" y="1298448"/>
            <a:ext cx="3383280" cy="448056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96512" y="1298448"/>
            <a:ext cx="3383280" cy="502920"/>
          </a:xfrm>
          <a:prstGeom prst="rect">
            <a:avLst/>
          </a:prstGeom>
          <a:solidFill>
            <a:srgbClr val="B84A5A"/>
          </a:solidFill>
          <a:ln w="12700">
            <a:solidFill>
              <a:srgbClr val="B84A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61104" y="1417320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FRAUD &amp; RISK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279392" y="19933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B84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498848" y="1947672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28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Fraud Transaction Count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279392" y="24140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B84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498848" y="2368296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28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Fraud Rate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279392" y="28346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B84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498848" y="2788920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28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Fraud Transaction Value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279392" y="32552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B84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498848" y="3209544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28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Fraud Value Share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279392" y="36758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B84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498848" y="3630168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28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Risk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279392" y="40965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B84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498848" y="4050792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28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Merchant Risk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279392" y="45171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B84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498848" y="4471416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28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Device Risk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279392" y="49377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B84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498848" y="4892040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28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Rooted Device Fraud Rate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7690104" y="1298448"/>
            <a:ext cx="3383280" cy="448056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690104" y="1298448"/>
            <a:ext cx="3383280" cy="502920"/>
          </a:xfrm>
          <a:prstGeom prst="rect">
            <a:avLst/>
          </a:prstGeom>
          <a:solidFill>
            <a:srgbClr val="2B7A61"/>
          </a:solidFill>
          <a:ln w="12700">
            <a:solidFill>
              <a:srgbClr val="2B7A6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854696" y="1417320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SEGMENTATION &amp; ACTIVITY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872984" y="19933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B7A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092440" y="1947672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28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Activity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7872984" y="24140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B7A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8092440" y="2368296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28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Merchant Activity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7872984" y="28346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B7A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8092440" y="2788920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28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Regional Activity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7872984" y="32552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B7A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8092440" y="3209544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28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Device Activity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7872984" y="36758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B7A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8092440" y="3630168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28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Channel Activity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7872984" y="40965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B7A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8092440" y="4050792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28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High-Risk Device Count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7872984" y="45171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B7A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8092440" y="4471416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28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High-Risk Merchant Count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7872984" y="49377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B7A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8092440" y="4892040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28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Retention / Re-engagement indicator where applicable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731520" y="5971032"/>
            <a:ext cx="10744200" cy="384048"/>
          </a:xfrm>
          <a:prstGeom prst="roundRect">
            <a:avLst>
              <a:gd name="adj" fmla="val 28571"/>
            </a:avLst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14400" y="6035040"/>
            <a:ext cx="10378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principle: interpret metrics alongside transaction volume, monetary exposure, segmentation and statistical evidence — not in isolation.</a:t>
            </a:r>
            <a:endParaRPr lang="en-US" sz="1050" dirty="0"/>
          </a:p>
        </p:txBody>
      </p:sp>
      <p:sp>
        <p:nvSpPr>
          <p:cNvPr id="6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28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973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Analytical Hypotheses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Testable statements linking business questions to statistical methods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594360" cy="438912"/>
          </a:xfrm>
          <a:prstGeom prst="rect">
            <a:avLst/>
          </a:prstGeom>
          <a:solidFill>
            <a:srgbClr val="1F243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5331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143000" y="1234440"/>
            <a:ext cx="6903720" cy="438912"/>
          </a:xfrm>
          <a:prstGeom prst="rect">
            <a:avLst/>
          </a:prstGeom>
          <a:solidFill>
            <a:srgbClr val="1F243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1353312"/>
            <a:ext cx="6903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HYPOTHESIS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275320" y="1234440"/>
            <a:ext cx="3383280" cy="438912"/>
          </a:xfrm>
          <a:prstGeom prst="rect">
            <a:avLst/>
          </a:prstGeom>
          <a:solidFill>
            <a:srgbClr val="1F243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75320" y="135331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PLANNED TEST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1673352"/>
            <a:ext cx="594360" cy="576072"/>
          </a:xfrm>
          <a:prstGeom prst="rect">
            <a:avLst/>
          </a:prstGeom>
          <a:solidFill>
            <a:srgbClr val="FFFFFF"/>
          </a:solidFill>
          <a:ln w="8890">
            <a:solidFill>
              <a:srgbClr val="D9DD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3000" y="1673352"/>
            <a:ext cx="6903720" cy="576072"/>
          </a:xfrm>
          <a:prstGeom prst="rect">
            <a:avLst/>
          </a:prstGeom>
          <a:solidFill>
            <a:srgbClr val="FFFFFF"/>
          </a:solidFill>
          <a:ln w="8890">
            <a:solidFill>
              <a:srgbClr val="D9DDE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75320" y="1673352"/>
            <a:ext cx="3383280" cy="576072"/>
          </a:xfrm>
          <a:prstGeom prst="rect">
            <a:avLst/>
          </a:prstGeom>
          <a:solidFill>
            <a:srgbClr val="FFFFFF"/>
          </a:solidFill>
          <a:ln w="8890">
            <a:solidFill>
              <a:srgbClr val="D9DD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85623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3F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52728" y="1773936"/>
            <a:ext cx="6684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28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Rooted devices are associated with higher fraud occurrence.</a:t>
            </a:r>
            <a:endParaRPr lang="en-US" sz="1120" dirty="0"/>
          </a:p>
        </p:txBody>
      </p:sp>
      <p:sp>
        <p:nvSpPr>
          <p:cNvPr id="15" name="Text 13"/>
          <p:cNvSpPr/>
          <p:nvPr/>
        </p:nvSpPr>
        <p:spPr>
          <a:xfrm>
            <a:off x="8385048" y="1773936"/>
            <a:ext cx="3163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F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Chi-square test of association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502920" y="2249424"/>
            <a:ext cx="594360" cy="576072"/>
          </a:xfrm>
          <a:prstGeom prst="rect">
            <a:avLst/>
          </a:prstGeom>
          <a:solidFill>
            <a:srgbClr val="F3F4F8"/>
          </a:solidFill>
          <a:ln w="8890">
            <a:solidFill>
              <a:srgbClr val="D9DD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43000" y="2249424"/>
            <a:ext cx="6903720" cy="576072"/>
          </a:xfrm>
          <a:prstGeom prst="rect">
            <a:avLst/>
          </a:prstGeom>
          <a:solidFill>
            <a:srgbClr val="F3F4F8"/>
          </a:solidFill>
          <a:ln w="8890">
            <a:solidFill>
              <a:srgbClr val="D9DD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75320" y="2249424"/>
            <a:ext cx="3383280" cy="576072"/>
          </a:xfrm>
          <a:prstGeom prst="rect">
            <a:avLst/>
          </a:prstGeom>
          <a:solidFill>
            <a:srgbClr val="F3F4F8"/>
          </a:solidFill>
          <a:ln w="8890">
            <a:solidFill>
              <a:srgbClr val="D9DD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432304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3F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252728" y="2350008"/>
            <a:ext cx="6684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28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Fraud occurrence differs across transaction channels.</a:t>
            </a:r>
            <a:endParaRPr lang="en-US" sz="1120" dirty="0"/>
          </a:p>
        </p:txBody>
      </p:sp>
      <p:sp>
        <p:nvSpPr>
          <p:cNvPr id="21" name="Text 19"/>
          <p:cNvSpPr/>
          <p:nvPr/>
        </p:nvSpPr>
        <p:spPr>
          <a:xfrm>
            <a:off x="8385048" y="2350008"/>
            <a:ext cx="3163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F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Chi-square test of association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502920" y="2825496"/>
            <a:ext cx="594360" cy="576072"/>
          </a:xfrm>
          <a:prstGeom prst="rect">
            <a:avLst/>
          </a:prstGeom>
          <a:solidFill>
            <a:srgbClr val="FFFFFF"/>
          </a:solidFill>
          <a:ln w="8890">
            <a:solidFill>
              <a:srgbClr val="D9DDE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43000" y="2825496"/>
            <a:ext cx="6903720" cy="576072"/>
          </a:xfrm>
          <a:prstGeom prst="rect">
            <a:avLst/>
          </a:prstGeom>
          <a:solidFill>
            <a:srgbClr val="FFFFFF"/>
          </a:solidFill>
          <a:ln w="8890">
            <a:solidFill>
              <a:srgbClr val="D9DDE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75320" y="2825496"/>
            <a:ext cx="3383280" cy="576072"/>
          </a:xfrm>
          <a:prstGeom prst="rect">
            <a:avLst/>
          </a:prstGeom>
          <a:solidFill>
            <a:srgbClr val="FFFFFF"/>
          </a:solidFill>
          <a:ln w="8890">
            <a:solidFill>
              <a:srgbClr val="D9DD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008376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3F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252728" y="2926080"/>
            <a:ext cx="6684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28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Device type is associated with transaction status.</a:t>
            </a:r>
            <a:endParaRPr lang="en-US" sz="1120" dirty="0"/>
          </a:p>
        </p:txBody>
      </p:sp>
      <p:sp>
        <p:nvSpPr>
          <p:cNvPr id="27" name="Text 25"/>
          <p:cNvSpPr/>
          <p:nvPr/>
        </p:nvSpPr>
        <p:spPr>
          <a:xfrm>
            <a:off x="8385048" y="2926080"/>
            <a:ext cx="3163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F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Chi-square test of association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502920" y="3401568"/>
            <a:ext cx="594360" cy="576072"/>
          </a:xfrm>
          <a:prstGeom prst="rect">
            <a:avLst/>
          </a:prstGeom>
          <a:solidFill>
            <a:srgbClr val="F3F4F8"/>
          </a:solidFill>
          <a:ln w="8890">
            <a:solidFill>
              <a:srgbClr val="D9DDE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43000" y="3401568"/>
            <a:ext cx="6903720" cy="576072"/>
          </a:xfrm>
          <a:prstGeom prst="rect">
            <a:avLst/>
          </a:prstGeom>
          <a:solidFill>
            <a:srgbClr val="F3F4F8"/>
          </a:solidFill>
          <a:ln w="8890">
            <a:solidFill>
              <a:srgbClr val="D9DDE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75320" y="3401568"/>
            <a:ext cx="3383280" cy="576072"/>
          </a:xfrm>
          <a:prstGeom prst="rect">
            <a:avLst/>
          </a:prstGeom>
          <a:solidFill>
            <a:srgbClr val="F3F4F8"/>
          </a:solidFill>
          <a:ln w="8890">
            <a:solidFill>
              <a:srgbClr val="D9DDE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358444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3F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252728" y="3502152"/>
            <a:ext cx="6684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28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 customer risk scores are associated with fraud occurrence.</a:t>
            </a:r>
            <a:endParaRPr lang="en-US" sz="1120" dirty="0"/>
          </a:p>
        </p:txBody>
      </p:sp>
      <p:sp>
        <p:nvSpPr>
          <p:cNvPr id="33" name="Text 31"/>
          <p:cNvSpPr/>
          <p:nvPr/>
        </p:nvSpPr>
        <p:spPr>
          <a:xfrm>
            <a:off x="8385048" y="3502152"/>
            <a:ext cx="3163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F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Point-biserial correlation</a:t>
            </a:r>
            <a:endParaRPr lang="en-US" sz="1080" dirty="0"/>
          </a:p>
        </p:txBody>
      </p:sp>
      <p:sp>
        <p:nvSpPr>
          <p:cNvPr id="34" name="Shape 32"/>
          <p:cNvSpPr/>
          <p:nvPr/>
        </p:nvSpPr>
        <p:spPr>
          <a:xfrm>
            <a:off x="502920" y="3977640"/>
            <a:ext cx="594360" cy="576072"/>
          </a:xfrm>
          <a:prstGeom prst="rect">
            <a:avLst/>
          </a:prstGeom>
          <a:solidFill>
            <a:srgbClr val="FFFFFF"/>
          </a:solidFill>
          <a:ln w="8890">
            <a:solidFill>
              <a:srgbClr val="D9DDE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43000" y="3977640"/>
            <a:ext cx="6903720" cy="576072"/>
          </a:xfrm>
          <a:prstGeom prst="rect">
            <a:avLst/>
          </a:prstGeom>
          <a:solidFill>
            <a:srgbClr val="FFFFFF"/>
          </a:solidFill>
          <a:ln w="8890">
            <a:solidFill>
              <a:srgbClr val="D9DDE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75320" y="3977640"/>
            <a:ext cx="3383280" cy="576072"/>
          </a:xfrm>
          <a:prstGeom prst="rect">
            <a:avLst/>
          </a:prstGeom>
          <a:solidFill>
            <a:srgbClr val="FFFFFF"/>
          </a:solidFill>
          <a:ln w="8890">
            <a:solidFill>
              <a:srgbClr val="D9DDE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416052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3F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H5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252728" y="4078224"/>
            <a:ext cx="6684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28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 transaction amount differs between Android and iOS users.</a:t>
            </a:r>
            <a:endParaRPr lang="en-US" sz="1120" dirty="0"/>
          </a:p>
        </p:txBody>
      </p:sp>
      <p:sp>
        <p:nvSpPr>
          <p:cNvPr id="39" name="Text 37"/>
          <p:cNvSpPr/>
          <p:nvPr/>
        </p:nvSpPr>
        <p:spPr>
          <a:xfrm>
            <a:off x="8385048" y="4078224"/>
            <a:ext cx="3163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F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Independent-samples Welch t-test</a:t>
            </a:r>
            <a:endParaRPr lang="en-US" sz="1080" dirty="0"/>
          </a:p>
        </p:txBody>
      </p:sp>
      <p:sp>
        <p:nvSpPr>
          <p:cNvPr id="40" name="Shape 38"/>
          <p:cNvSpPr/>
          <p:nvPr/>
        </p:nvSpPr>
        <p:spPr>
          <a:xfrm>
            <a:off x="502920" y="4553712"/>
            <a:ext cx="594360" cy="576072"/>
          </a:xfrm>
          <a:prstGeom prst="rect">
            <a:avLst/>
          </a:prstGeom>
          <a:solidFill>
            <a:srgbClr val="F3F4F8"/>
          </a:solidFill>
          <a:ln w="8890">
            <a:solidFill>
              <a:srgbClr val="D9DDE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143000" y="4553712"/>
            <a:ext cx="6903720" cy="576072"/>
          </a:xfrm>
          <a:prstGeom prst="rect">
            <a:avLst/>
          </a:prstGeom>
          <a:solidFill>
            <a:srgbClr val="F3F4F8"/>
          </a:solidFill>
          <a:ln w="8890">
            <a:solidFill>
              <a:srgbClr val="D9DDE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275320" y="4553712"/>
            <a:ext cx="3383280" cy="576072"/>
          </a:xfrm>
          <a:prstGeom prst="rect">
            <a:avLst/>
          </a:prstGeom>
          <a:solidFill>
            <a:srgbClr val="F3F4F8"/>
          </a:solidFill>
          <a:ln w="8890">
            <a:solidFill>
              <a:srgbClr val="D9DDE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" y="473659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3F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H6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252728" y="4654296"/>
            <a:ext cx="6684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28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 merchant-level fraud rates differ across merchant types.</a:t>
            </a:r>
            <a:endParaRPr lang="en-US" sz="1120" dirty="0"/>
          </a:p>
        </p:txBody>
      </p:sp>
      <p:sp>
        <p:nvSpPr>
          <p:cNvPr id="45" name="Text 43"/>
          <p:cNvSpPr/>
          <p:nvPr/>
        </p:nvSpPr>
        <p:spPr>
          <a:xfrm>
            <a:off x="8385048" y="4654296"/>
            <a:ext cx="3163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F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One-way ANOVA</a:t>
            </a:r>
            <a:endParaRPr lang="en-US" sz="1080" dirty="0"/>
          </a:p>
        </p:txBody>
      </p:sp>
      <p:sp>
        <p:nvSpPr>
          <p:cNvPr id="46" name="Shape 44"/>
          <p:cNvSpPr/>
          <p:nvPr/>
        </p:nvSpPr>
        <p:spPr>
          <a:xfrm>
            <a:off x="502920" y="5129784"/>
            <a:ext cx="594360" cy="576072"/>
          </a:xfrm>
          <a:prstGeom prst="rect">
            <a:avLst/>
          </a:prstGeom>
          <a:solidFill>
            <a:srgbClr val="FFFFFF"/>
          </a:solidFill>
          <a:ln w="8890">
            <a:solidFill>
              <a:srgbClr val="D9DDE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143000" y="5129784"/>
            <a:ext cx="6903720" cy="576072"/>
          </a:xfrm>
          <a:prstGeom prst="rect">
            <a:avLst/>
          </a:prstGeom>
          <a:solidFill>
            <a:srgbClr val="FFFFFF"/>
          </a:solidFill>
          <a:ln w="8890">
            <a:solidFill>
              <a:srgbClr val="D9DDE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275320" y="5129784"/>
            <a:ext cx="3383280" cy="576072"/>
          </a:xfrm>
          <a:prstGeom prst="rect">
            <a:avLst/>
          </a:prstGeom>
          <a:solidFill>
            <a:srgbClr val="FFFFFF"/>
          </a:solidFill>
          <a:ln w="8890">
            <a:solidFill>
              <a:srgbClr val="D9DDE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2920" y="5312664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3F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H7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1252728" y="5230368"/>
            <a:ext cx="6684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28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 customer-level fraud rates differ across regions.</a:t>
            </a:r>
            <a:endParaRPr lang="en-US" sz="1120" dirty="0"/>
          </a:p>
        </p:txBody>
      </p:sp>
      <p:sp>
        <p:nvSpPr>
          <p:cNvPr id="51" name="Text 49"/>
          <p:cNvSpPr/>
          <p:nvPr/>
        </p:nvSpPr>
        <p:spPr>
          <a:xfrm>
            <a:off x="8385048" y="5230368"/>
            <a:ext cx="3163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F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One-way ANOVA</a:t>
            </a:r>
            <a:endParaRPr lang="en-US" sz="1080" dirty="0"/>
          </a:p>
        </p:txBody>
      </p:sp>
      <p:sp>
        <p:nvSpPr>
          <p:cNvPr id="52" name="Text 50"/>
          <p:cNvSpPr/>
          <p:nvPr/>
        </p:nvSpPr>
        <p:spPr>
          <a:xfrm>
            <a:off x="777240" y="587959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Hypotheses are tested empirically; statistical significance indicates evidence of association or difference, not causation.</a:t>
            </a:r>
            <a:endParaRPr lang="en-US" sz="1150" dirty="0"/>
          </a:p>
        </p:txBody>
      </p:sp>
      <p:sp>
        <p:nvSpPr>
          <p:cNvPr id="5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28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973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Business Question to Decision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1 establishes the logic that later connects SQL, Python, statistics and Power BI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84048" y="1874520"/>
            <a:ext cx="1225296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75688"/>
            <a:ext cx="1078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1F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</a:t>
            </a:r>
            <a:endParaRPr lang="en-US" sz="1030" dirty="0"/>
          </a:p>
          <a:p>
            <a:pPr marL="0" indent="0" algn="ctr">
              <a:buNone/>
            </a:pPr>
            <a:r>
              <a:rPr lang="en-US" sz="1030" b="1" dirty="0">
                <a:solidFill>
                  <a:srgbClr val="1F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CHALLENGE</a:t>
            </a:r>
            <a:endParaRPr lang="en-US" sz="1030" dirty="0"/>
          </a:p>
        </p:txBody>
      </p:sp>
      <p:sp>
        <p:nvSpPr>
          <p:cNvPr id="6" name="Text 4"/>
          <p:cNvSpPr/>
          <p:nvPr/>
        </p:nvSpPr>
        <p:spPr>
          <a:xfrm>
            <a:off x="1618488" y="2176272"/>
            <a:ext cx="128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5B3F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1755648" y="1874520"/>
            <a:ext cx="1225296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2075688"/>
            <a:ext cx="1078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1F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</a:t>
            </a:r>
            <a:endParaRPr lang="en-US" sz="1030" dirty="0"/>
          </a:p>
          <a:p>
            <a:pPr marL="0" indent="0" algn="ctr">
              <a:buNone/>
            </a:pPr>
            <a:r>
              <a:rPr lang="en-US" sz="1030" b="1" dirty="0">
                <a:solidFill>
                  <a:srgbClr val="1F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QUESTIONS</a:t>
            </a:r>
            <a:endParaRPr lang="en-US" sz="1030" dirty="0"/>
          </a:p>
        </p:txBody>
      </p:sp>
      <p:sp>
        <p:nvSpPr>
          <p:cNvPr id="9" name="Text 7"/>
          <p:cNvSpPr/>
          <p:nvPr/>
        </p:nvSpPr>
        <p:spPr>
          <a:xfrm>
            <a:off x="2990088" y="2176272"/>
            <a:ext cx="128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5B3F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3127248" y="1874520"/>
            <a:ext cx="1225296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2075688"/>
            <a:ext cx="1078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1F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</a:t>
            </a:r>
            <a:endParaRPr lang="en-US" sz="1030" dirty="0"/>
          </a:p>
          <a:p>
            <a:pPr marL="0" indent="0" algn="ctr">
              <a:buNone/>
            </a:pPr>
            <a:r>
              <a:rPr lang="en-US" sz="1030" b="1" dirty="0">
                <a:solidFill>
                  <a:srgbClr val="1F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DEFINITION</a:t>
            </a:r>
            <a:endParaRPr lang="en-US" sz="1030" dirty="0"/>
          </a:p>
        </p:txBody>
      </p:sp>
      <p:sp>
        <p:nvSpPr>
          <p:cNvPr id="12" name="Text 10"/>
          <p:cNvSpPr/>
          <p:nvPr/>
        </p:nvSpPr>
        <p:spPr>
          <a:xfrm>
            <a:off x="4361688" y="2176272"/>
            <a:ext cx="128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5B3F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4498848" y="1874520"/>
            <a:ext cx="1225296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2075688"/>
            <a:ext cx="1078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1F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HYPOTHESIS</a:t>
            </a:r>
            <a:endParaRPr lang="en-US" sz="1030" dirty="0"/>
          </a:p>
          <a:p>
            <a:pPr marL="0" indent="0" algn="ctr">
              <a:buNone/>
            </a:pPr>
            <a:r>
              <a:rPr lang="en-US" sz="1030" b="1" dirty="0">
                <a:solidFill>
                  <a:srgbClr val="1F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FORMULATION</a:t>
            </a:r>
            <a:endParaRPr lang="en-US" sz="1030" dirty="0"/>
          </a:p>
        </p:txBody>
      </p:sp>
      <p:sp>
        <p:nvSpPr>
          <p:cNvPr id="15" name="Text 13"/>
          <p:cNvSpPr/>
          <p:nvPr/>
        </p:nvSpPr>
        <p:spPr>
          <a:xfrm>
            <a:off x="5733288" y="2176272"/>
            <a:ext cx="128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5B3F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5870448" y="1874520"/>
            <a:ext cx="1225296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0" y="2075688"/>
            <a:ext cx="1078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1F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&amp; SQL</a:t>
            </a:r>
            <a:endParaRPr lang="en-US" sz="1030" dirty="0"/>
          </a:p>
          <a:p>
            <a:pPr marL="0" indent="0" algn="ctr">
              <a:buNone/>
            </a:pPr>
            <a:r>
              <a:rPr lang="en-US" sz="1030" b="1" dirty="0">
                <a:solidFill>
                  <a:srgbClr val="1F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1030" dirty="0"/>
          </a:p>
        </p:txBody>
      </p:sp>
      <p:sp>
        <p:nvSpPr>
          <p:cNvPr id="18" name="Text 16"/>
          <p:cNvSpPr/>
          <p:nvPr/>
        </p:nvSpPr>
        <p:spPr>
          <a:xfrm>
            <a:off x="7104888" y="2176272"/>
            <a:ext cx="128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5B3F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7242048" y="1874520"/>
            <a:ext cx="1225296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0" y="2075688"/>
            <a:ext cx="1078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1F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/</a:t>
            </a:r>
            <a:endParaRPr lang="en-US" sz="1030" dirty="0"/>
          </a:p>
          <a:p>
            <a:pPr marL="0" indent="0" algn="ctr">
              <a:buNone/>
            </a:pPr>
            <a:r>
              <a:rPr lang="en-US" sz="1030" b="1" dirty="0">
                <a:solidFill>
                  <a:srgbClr val="1F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STATISTICS</a:t>
            </a:r>
            <a:endParaRPr lang="en-US" sz="1030" dirty="0"/>
          </a:p>
        </p:txBody>
      </p:sp>
      <p:sp>
        <p:nvSpPr>
          <p:cNvPr id="21" name="Text 19"/>
          <p:cNvSpPr/>
          <p:nvPr/>
        </p:nvSpPr>
        <p:spPr>
          <a:xfrm>
            <a:off x="8476488" y="2176272"/>
            <a:ext cx="128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5B3F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8613648" y="1874520"/>
            <a:ext cx="1225296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0" y="2075688"/>
            <a:ext cx="1078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1F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BI</a:t>
            </a:r>
            <a:endParaRPr lang="en-US" sz="1030" dirty="0"/>
          </a:p>
          <a:p>
            <a:pPr marL="0" indent="0" algn="ctr">
              <a:buNone/>
            </a:pPr>
            <a:r>
              <a:rPr lang="en-US" sz="1030" b="1" dirty="0">
                <a:solidFill>
                  <a:srgbClr val="1F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</a:t>
            </a:r>
            <a:endParaRPr lang="en-US" sz="1030" dirty="0"/>
          </a:p>
        </p:txBody>
      </p:sp>
      <p:sp>
        <p:nvSpPr>
          <p:cNvPr id="24" name="Text 22"/>
          <p:cNvSpPr/>
          <p:nvPr/>
        </p:nvSpPr>
        <p:spPr>
          <a:xfrm>
            <a:off x="9848088" y="2176272"/>
            <a:ext cx="128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5B3F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9985248" y="1874520"/>
            <a:ext cx="1225296" cy="960120"/>
          </a:xfrm>
          <a:prstGeom prst="roundRect">
            <a:avLst>
              <a:gd name="adj" fmla="val 11429"/>
            </a:avLst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0" y="2075688"/>
            <a:ext cx="1078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STRATEGIC</a:t>
            </a:r>
            <a:endParaRPr lang="en-US" sz="1030" dirty="0"/>
          </a:p>
          <a:p>
            <a:pPr marL="0" indent="0" algn="ctr">
              <a:buNone/>
            </a:pPr>
            <a:r>
              <a:rPr lang="en-US" sz="10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1030" dirty="0"/>
          </a:p>
        </p:txBody>
      </p:sp>
      <p:sp>
        <p:nvSpPr>
          <p:cNvPr id="27" name="Shape 25"/>
          <p:cNvSpPr/>
          <p:nvPr/>
        </p:nvSpPr>
        <p:spPr>
          <a:xfrm>
            <a:off x="713232" y="3456432"/>
            <a:ext cx="1074420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87552" y="3675888"/>
            <a:ext cx="1828800" cy="256032"/>
          </a:xfrm>
          <a:prstGeom prst="roundRect">
            <a:avLst>
              <a:gd name="adj" fmla="val 28571"/>
            </a:avLst>
          </a:prstGeom>
          <a:solidFill>
            <a:srgbClr val="EDE9F8"/>
          </a:solidFill>
          <a:ln w="12700">
            <a:solidFill>
              <a:srgbClr val="EDE9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7552" y="369417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3F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ANALYTICAL PATHWAY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05840" y="4087368"/>
            <a:ext cx="10149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Rooted-device fraud hypothesis → SQL/Python validation → statistical testing → risk segmentation → dashboard investigation → targeted monitoring consideration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31520" y="5257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5B3F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business questions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22960" y="5605272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28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Where is transaction activity concentrated?</a:t>
            </a:r>
            <a:endParaRPr lang="en-US" sz="1060" dirty="0"/>
          </a:p>
        </p:txBody>
      </p:sp>
      <p:sp>
        <p:nvSpPr>
          <p:cNvPr id="33" name="Text 31"/>
          <p:cNvSpPr/>
          <p:nvPr/>
        </p:nvSpPr>
        <p:spPr>
          <a:xfrm>
            <a:off x="822960" y="5861304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28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Where is fraud exposure concentrated?</a:t>
            </a:r>
            <a:endParaRPr lang="en-US" sz="1060" dirty="0"/>
          </a:p>
        </p:txBody>
      </p:sp>
      <p:sp>
        <p:nvSpPr>
          <p:cNvPr id="34" name="Text 32"/>
          <p:cNvSpPr/>
          <p:nvPr/>
        </p:nvSpPr>
        <p:spPr>
          <a:xfrm>
            <a:off x="822960" y="6117336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28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Which variables are associated with fraud?</a:t>
            </a:r>
            <a:endParaRPr lang="en-US" sz="1060" dirty="0"/>
          </a:p>
        </p:txBody>
      </p:sp>
      <p:sp>
        <p:nvSpPr>
          <p:cNvPr id="35" name="Text 33"/>
          <p:cNvSpPr/>
          <p:nvPr/>
        </p:nvSpPr>
        <p:spPr>
          <a:xfrm>
            <a:off x="6263640" y="5605272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28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Where are payment failures occurring?</a:t>
            </a:r>
            <a:endParaRPr lang="en-US" sz="1060" dirty="0"/>
          </a:p>
        </p:txBody>
      </p:sp>
      <p:sp>
        <p:nvSpPr>
          <p:cNvPr id="36" name="Text 34"/>
          <p:cNvSpPr/>
          <p:nvPr/>
        </p:nvSpPr>
        <p:spPr>
          <a:xfrm>
            <a:off x="6263640" y="5861304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28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is the monetary exposure?</a:t>
            </a:r>
            <a:endParaRPr lang="en-US" sz="1060" dirty="0"/>
          </a:p>
        </p:txBody>
      </p:sp>
      <p:sp>
        <p:nvSpPr>
          <p:cNvPr id="37" name="Text 35"/>
          <p:cNvSpPr/>
          <p:nvPr/>
        </p:nvSpPr>
        <p:spPr>
          <a:xfrm>
            <a:off x="6263640" y="6117336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28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Which segments warrant deeper investigation?</a:t>
            </a:r>
            <a:endParaRPr lang="en-US" sz="106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28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973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Beyond the Brief — Standout Work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Specific enhancements developed to demonstrate Data Analyst-level depth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1078992"/>
            <a:ext cx="10835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8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project was intentionally developed beyond the prescribed requirements to demonstrate how a Data Analyst can move from raw business questions to deeper analytical discovery, advanced visualisation, interactive investigation and actionable business insight.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58368" y="1993392"/>
            <a:ext cx="5230368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21408"/>
            <a:ext cx="4901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80" b="1" dirty="0">
                <a:solidFill>
                  <a:srgbClr val="1F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3D Analytics</a:t>
            </a:r>
            <a:endParaRPr lang="en-US" sz="1280" dirty="0"/>
          </a:p>
        </p:txBody>
      </p:sp>
      <p:sp>
        <p:nvSpPr>
          <p:cNvPr id="7" name="Text 5"/>
          <p:cNvSpPr/>
          <p:nvPr/>
        </p:nvSpPr>
        <p:spPr>
          <a:xfrm>
            <a:off x="822960" y="2414016"/>
            <a:ext cx="4901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28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Created interactive 3D risk landscapes in Python across region, device, channel, merchant, failure patterns and time-of-day.</a:t>
            </a:r>
            <a:endParaRPr lang="en-US" sz="1070" dirty="0"/>
          </a:p>
        </p:txBody>
      </p:sp>
      <p:sp>
        <p:nvSpPr>
          <p:cNvPr id="8" name="Shape 6"/>
          <p:cNvSpPr/>
          <p:nvPr/>
        </p:nvSpPr>
        <p:spPr>
          <a:xfrm>
            <a:off x="6263640" y="1993392"/>
            <a:ext cx="5230368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28232" y="2121408"/>
            <a:ext cx="4901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80" b="1" dirty="0">
                <a:solidFill>
                  <a:srgbClr val="1F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Quantified Device-Risk Discovery</a:t>
            </a:r>
            <a:endParaRPr lang="en-US" sz="1280" dirty="0"/>
          </a:p>
        </p:txBody>
      </p:sp>
      <p:sp>
        <p:nvSpPr>
          <p:cNvPr id="10" name="Text 8"/>
          <p:cNvSpPr/>
          <p:nvPr/>
        </p:nvSpPr>
        <p:spPr>
          <a:xfrm>
            <a:off x="6428232" y="2414016"/>
            <a:ext cx="4901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28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Uncovered a 19.30 percentage-point fraud-rate gap between rooted and non-rooted devices (20.69% vs 1.39%) and validated the relationship statistically.</a:t>
            </a:r>
            <a:endParaRPr lang="en-US" sz="1070" dirty="0"/>
          </a:p>
        </p:txBody>
      </p:sp>
      <p:sp>
        <p:nvSpPr>
          <p:cNvPr id="11" name="Shape 9"/>
          <p:cNvSpPr/>
          <p:nvPr/>
        </p:nvSpPr>
        <p:spPr>
          <a:xfrm>
            <a:off x="658368" y="3163824"/>
            <a:ext cx="5230368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291840"/>
            <a:ext cx="4901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80" b="1" dirty="0">
                <a:solidFill>
                  <a:srgbClr val="1F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Statistical Thinking Beyond “Significant / Not Significant”</a:t>
            </a:r>
            <a:endParaRPr lang="en-US" sz="128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4901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28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Combined hypothesis testing, effect sizes and confidence intervals, while documenting non-significant findings rather than forcing conclusions.</a:t>
            </a:r>
            <a:endParaRPr lang="en-US" sz="1070" dirty="0"/>
          </a:p>
        </p:txBody>
      </p:sp>
      <p:sp>
        <p:nvSpPr>
          <p:cNvPr id="14" name="Shape 12"/>
          <p:cNvSpPr/>
          <p:nvPr/>
        </p:nvSpPr>
        <p:spPr>
          <a:xfrm>
            <a:off x="6263640" y="3163824"/>
            <a:ext cx="5230368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28232" y="3291840"/>
            <a:ext cx="4901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80" b="1" dirty="0">
                <a:solidFill>
                  <a:srgbClr val="1F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BI as an Investigation Tool</a:t>
            </a:r>
            <a:endParaRPr lang="en-US" sz="1280" dirty="0"/>
          </a:p>
        </p:txBody>
      </p:sp>
      <p:sp>
        <p:nvSpPr>
          <p:cNvPr id="16" name="Text 14"/>
          <p:cNvSpPr/>
          <p:nvPr/>
        </p:nvSpPr>
        <p:spPr>
          <a:xfrm>
            <a:off x="6428232" y="3584448"/>
            <a:ext cx="4901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28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 Executive Command Center, Fraud &amp; Risk Intelligence, Operations &amp; Failure and Risk Investigation pages with interactive filtering and Region, Device and Merchant drillthroughs.</a:t>
            </a:r>
            <a:endParaRPr lang="en-US" sz="1070" dirty="0"/>
          </a:p>
        </p:txBody>
      </p:sp>
      <p:sp>
        <p:nvSpPr>
          <p:cNvPr id="17" name="Shape 15"/>
          <p:cNvSpPr/>
          <p:nvPr/>
        </p:nvSpPr>
        <p:spPr>
          <a:xfrm>
            <a:off x="658368" y="4334256"/>
            <a:ext cx="5230368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462272"/>
            <a:ext cx="4901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80" b="1" dirty="0">
                <a:solidFill>
                  <a:srgbClr val="1F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Dashboard to Investigation</a:t>
            </a:r>
            <a:endParaRPr lang="en-US" sz="1280" dirty="0"/>
          </a:p>
        </p:txBody>
      </p:sp>
      <p:sp>
        <p:nvSpPr>
          <p:cNvPr id="19" name="Text 17"/>
          <p:cNvSpPr/>
          <p:nvPr/>
        </p:nvSpPr>
        <p:spPr>
          <a:xfrm>
            <a:off x="822960" y="4754880"/>
            <a:ext cx="4901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28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Designed the workflow: Signal → Segment → Drill Through → Investigate → Act.</a:t>
            </a:r>
            <a:endParaRPr lang="en-US" sz="1070" dirty="0"/>
          </a:p>
        </p:txBody>
      </p:sp>
      <p:sp>
        <p:nvSpPr>
          <p:cNvPr id="20" name="Shape 18"/>
          <p:cNvSpPr/>
          <p:nvPr/>
        </p:nvSpPr>
        <p:spPr>
          <a:xfrm>
            <a:off x="6263640" y="4334256"/>
            <a:ext cx="5230368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28232" y="4462272"/>
            <a:ext cx="4901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80" b="1" dirty="0">
                <a:solidFill>
                  <a:srgbClr val="1F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Business-Focused Risk Storytelling</a:t>
            </a:r>
            <a:endParaRPr lang="en-US" sz="1280" dirty="0"/>
          </a:p>
        </p:txBody>
      </p:sp>
      <p:sp>
        <p:nvSpPr>
          <p:cNvPr id="22" name="Text 20"/>
          <p:cNvSpPr/>
          <p:nvPr/>
        </p:nvSpPr>
        <p:spPr>
          <a:xfrm>
            <a:off x="6428232" y="4754880"/>
            <a:ext cx="4901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28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Connected findings to device-security monitoring, risk segmentation, operational prioritisation and targeted investigation.</a:t>
            </a:r>
            <a:endParaRPr lang="en-US" sz="1070" dirty="0"/>
          </a:p>
        </p:txBody>
      </p:sp>
      <p:sp>
        <p:nvSpPr>
          <p:cNvPr id="23" name="Text 21"/>
          <p:cNvSpPr/>
          <p:nvPr/>
        </p:nvSpPr>
        <p:spPr>
          <a:xfrm>
            <a:off x="777240" y="5605272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B3F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result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828800" y="5550408"/>
            <a:ext cx="9418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1F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project designed not merely to complete an assignment, but to demonstrate the curiosity, analytical depth and problem-solving mindset expected of a Data Analyst.</a:t>
            </a:r>
            <a:endParaRPr lang="en-US" sz="1240" dirty="0"/>
          </a:p>
        </p:txBody>
      </p:sp>
      <p:sp>
        <p:nvSpPr>
          <p:cNvPr id="25" name="Text 23"/>
          <p:cNvSpPr/>
          <p:nvPr/>
        </p:nvSpPr>
        <p:spPr>
          <a:xfrm>
            <a:off x="777240" y="6053328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5B3F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828800" y="6007608"/>
            <a:ext cx="9326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 for taking the time to review this project. I hope it demonstrates not only the analysis, but the thinking behind it.</a:t>
            </a:r>
            <a:endParaRPr lang="en-US" sz="107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28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973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890</Words>
  <Application>Microsoft Office PowerPoint</Application>
  <PresentationFormat>Widescreen</PresentationFormat>
  <Paragraphs>193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UPI Digital Payments — Business Understanding &amp; Analytical Planning</dc:title>
  <dc:subject>UPI Transaction Analytics Project — Step 1</dc:subject>
  <dc:creator>OpenAI</dc:creator>
  <cp:lastModifiedBy>KAUSTUBH SINHA</cp:lastModifiedBy>
  <cp:revision>3</cp:revision>
  <dcterms:created xsi:type="dcterms:W3CDTF">2026-09-16T17:08:59Z</dcterms:created>
  <dcterms:modified xsi:type="dcterms:W3CDTF">2026-09-16T17:19:07Z</dcterms:modified>
</cp:coreProperties>
</file>